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2011680"/>
            <a:ext cx="10515600" cy="1463040"/>
          </a:xfrm>
          <a:prstGeom prst="rect">
            <a:avLst/>
          </a:prstGeom>
          <a:noFill/>
        </p:spPr>
        <p:txBody>
          <a:bodyPr wrap="square">
            <a:spAutoFit/>
          </a:bodyPr>
          <a:lstStyle/>
          <a:p>
            <a:pPr algn="l"/>
            <a:r>
              <a:rPr sz="4400" b="1">
                <a:solidFill>
                  <a:srgbClr val="FFFFFF"/>
                </a:solidFill>
                <a:latin typeface="Trebuchet MS"/>
              </a:rPr>
              <a:t>Where the Conversion Leaks Are</a:t>
            </a:r>
          </a:p>
        </p:txBody>
      </p:sp>
      <p:sp>
        <p:nvSpPr>
          <p:cNvPr id="3" name="TextBox 2"/>
          <p:cNvSpPr txBox="1"/>
          <p:nvPr/>
        </p:nvSpPr>
        <p:spPr>
          <a:xfrm>
            <a:off x="822960" y="3200400"/>
            <a:ext cx="10515600" cy="548640"/>
          </a:xfrm>
          <a:prstGeom prst="rect">
            <a:avLst/>
          </a:prstGeom>
          <a:noFill/>
        </p:spPr>
        <p:txBody>
          <a:bodyPr wrap="square">
            <a:spAutoFit/>
          </a:bodyPr>
          <a:lstStyle/>
          <a:p>
            <a:pPr algn="l"/>
            <a:r>
              <a:rPr sz="1800" b="0">
                <a:solidFill>
                  <a:srgbClr val="3DB891"/>
                </a:solidFill>
                <a:latin typeface="Trebuchet MS"/>
              </a:rPr>
              <a:t>example.com  ·  CRO Recommendations  ·  August 2026</a:t>
            </a:r>
          </a:p>
        </p:txBody>
      </p:sp>
      <p:sp>
        <p:nvSpPr>
          <p:cNvPr id="4" name="TextBox 3"/>
          <p:cNvSpPr txBox="1"/>
          <p:nvPr/>
        </p:nvSpPr>
        <p:spPr>
          <a:xfrm>
            <a:off x="822960" y="4206240"/>
            <a:ext cx="10515600" cy="548640"/>
          </a:xfrm>
          <a:prstGeom prst="rect">
            <a:avLst/>
          </a:prstGeom>
          <a:noFill/>
        </p:spPr>
        <p:txBody>
          <a:bodyPr wrap="square">
            <a:spAutoFit/>
          </a:bodyPr>
          <a:lstStyle/>
          <a:p>
            <a:pPr algn="l"/>
            <a:r>
              <a:rPr sz="1500" b="0">
                <a:solidFill>
                  <a:srgbClr val="7A9E8E"/>
                </a:solidFill>
                <a:latin typeface="Trebuchet MS"/>
              </a:rPr>
              <a:t>Overall grade B (82/100)  ·  9 findings  ·  6 verified by measurement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THE CORE FINDING</a:t>
            </a:r>
          </a:p>
        </p:txBody>
      </p:sp>
      <p:sp>
        <p:nvSpPr>
          <p:cNvPr id="3" name="TextBox 2"/>
          <p:cNvSpPr txBox="1"/>
          <p:nvPr/>
        </p:nvSpPr>
        <p:spPr>
          <a:xfrm>
            <a:off x="822960" y="1188720"/>
            <a:ext cx="10515600" cy="2011680"/>
          </a:xfrm>
          <a:prstGeom prst="rect">
            <a:avLst/>
          </a:prstGeom>
          <a:noFill/>
        </p:spPr>
        <p:txBody>
          <a:bodyPr wrap="square">
            <a:spAutoFit/>
          </a:bodyPr>
          <a:lstStyle/>
          <a:p>
            <a:pPr algn="l"/>
            <a:r>
              <a:rPr sz="2200" b="0">
                <a:solidFill>
                  <a:srgbClr val="FFFFFF"/>
                </a:solidFill>
                <a:latin typeface="Trebuchet MS"/>
              </a:rPr>
              <a:t>The single most valuable conversion mechanism on this site is the homepage's ability to communicate a clear value proposition and guide visitors toward a specific action, but it is bleeding value because the copy is generic, technical, and lacks any customer language or trust signals, leaving visitors without a reason to engage or trust the site.</a:t>
            </a:r>
          </a:p>
        </p:txBody>
      </p:sp>
      <p:sp>
        <p:nvSpPr>
          <p:cNvPr id="4" name="TextBox 3"/>
          <p:cNvSpPr txBox="1"/>
          <p:nvPr/>
        </p:nvSpPr>
        <p:spPr>
          <a:xfrm>
            <a:off x="822960" y="3840480"/>
            <a:ext cx="10515600" cy="731520"/>
          </a:xfrm>
          <a:prstGeom prst="rect">
            <a:avLst/>
          </a:prstGeom>
          <a:noFill/>
        </p:spPr>
        <p:txBody>
          <a:bodyPr wrap="square">
            <a:spAutoFit/>
          </a:bodyPr>
          <a:lstStyle/>
          <a:p>
            <a:pPr algn="l"/>
            <a:r>
              <a:rPr sz="3000" b="1">
                <a:solidFill>
                  <a:srgbClr val="3DB891"/>
                </a:solidFill>
                <a:latin typeface="Trebuchet MS"/>
              </a:rPr>
              <a:t>1.8–7.8 orders per 1,000 visitors</a:t>
            </a:r>
          </a:p>
        </p:txBody>
      </p:sp>
      <p:sp>
        <p:nvSpPr>
          <p:cNvPr id="5" name="TextBox 4"/>
          <p:cNvSpPr txBox="1"/>
          <p:nvPr/>
        </p:nvSpPr>
        <p:spPr>
          <a:xfrm>
            <a:off x="822960" y="4663440"/>
            <a:ext cx="10515600" cy="1280160"/>
          </a:xfrm>
          <a:prstGeom prst="rect">
            <a:avLst/>
          </a:prstGeom>
          <a:noFill/>
        </p:spPr>
        <p:txBody>
          <a:bodyPr wrap="square">
            <a:spAutoFit/>
          </a:bodyPr>
          <a:lstStyle/>
          <a:p>
            <a:pPr algn="l"/>
            <a:r>
              <a:rPr sz="1200" b="0">
                <a:solidFill>
                  <a:srgbClr val="7A9E8E"/>
                </a:solidFill>
                <a:latin typeface="Trebuchet MS"/>
              </a:rPr>
              <a:t>Sized opportunity if every change ships and wins — an assumption-bounded range, not a forecast. Roughly 10–30% of A/B tests produce a significant win. The arithmetic for every figure is in the full report.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PRIORITISED FINDINGS</a:t>
            </a:r>
          </a:p>
        </p:txBody>
      </p:sp>
      <p:sp>
        <p:nvSpPr>
          <p:cNvPr id="3" name="TextBox 2"/>
          <p:cNvSpPr txBox="1"/>
          <p:nvPr/>
        </p:nvSpPr>
        <p:spPr>
          <a:xfrm>
            <a:off x="822960" y="1097280"/>
            <a:ext cx="548640" cy="365760"/>
          </a:xfrm>
          <a:prstGeom prst="rect">
            <a:avLst/>
          </a:prstGeom>
          <a:noFill/>
        </p:spPr>
        <p:txBody>
          <a:bodyPr wrap="square">
            <a:spAutoFit/>
          </a:bodyPr>
          <a:lstStyle/>
          <a:p>
            <a:pPr algn="l"/>
            <a:r>
              <a:rPr sz="1600" b="1">
                <a:solidFill>
                  <a:srgbClr val="008061"/>
                </a:solidFill>
                <a:latin typeface="Trebuchet MS"/>
              </a:rPr>
              <a:t>1</a:t>
            </a:r>
          </a:p>
        </p:txBody>
      </p:sp>
      <p:sp>
        <p:nvSpPr>
          <p:cNvPr id="4" name="TextBox 3"/>
          <p:cNvSpPr txBox="1"/>
          <p:nvPr/>
        </p:nvSpPr>
        <p:spPr>
          <a:xfrm>
            <a:off x="1371600" y="1097280"/>
            <a:ext cx="6949440" cy="365760"/>
          </a:xfrm>
          <a:prstGeom prst="rect">
            <a:avLst/>
          </a:prstGeom>
          <a:noFill/>
        </p:spPr>
        <p:txBody>
          <a:bodyPr wrap="square">
            <a:spAutoFit/>
          </a:bodyPr>
          <a:lstStyle/>
          <a:p>
            <a:pPr algn="l"/>
            <a:r>
              <a:rPr sz="1600" b="1">
                <a:solidFill>
                  <a:srgbClr val="FFFFFF"/>
                </a:solidFill>
                <a:latin typeface="Trebuchet MS"/>
              </a:rPr>
              <a:t>Missing security headers</a:t>
            </a:r>
          </a:p>
        </p:txBody>
      </p:sp>
      <p:sp>
        <p:nvSpPr>
          <p:cNvPr id="5" name="TextBox 4"/>
          <p:cNvSpPr txBox="1"/>
          <p:nvPr/>
        </p:nvSpPr>
        <p:spPr>
          <a:xfrm>
            <a:off x="8412480" y="1097280"/>
            <a:ext cx="2926080" cy="365760"/>
          </a:xfrm>
          <a:prstGeom prst="rect">
            <a:avLst/>
          </a:prstGeom>
          <a:noFill/>
        </p:spPr>
        <p:txBody>
          <a:bodyPr wrap="square">
            <a:spAutoFit/>
          </a:bodyPr>
          <a:lstStyle/>
          <a:p>
            <a:pPr algn="l"/>
            <a:r>
              <a:rPr sz="1200" b="0">
                <a:solidFill>
                  <a:srgbClr val="7A9E8E"/>
                </a:solidFill>
                <a:latin typeface="Trebuchet MS"/>
              </a:rPr>
              <a:t>Medium · Medium · PXL 6/10</a:t>
            </a:r>
          </a:p>
        </p:txBody>
      </p:sp>
      <p:sp>
        <p:nvSpPr>
          <p:cNvPr id="6" name="TextBox 5"/>
          <p:cNvSpPr txBox="1"/>
          <p:nvPr/>
        </p:nvSpPr>
        <p:spPr>
          <a:xfrm>
            <a:off x="1371600" y="1664207"/>
            <a:ext cx="9966960" cy="365760"/>
          </a:xfrm>
          <a:prstGeom prst="rect">
            <a:avLst/>
          </a:prstGeom>
          <a:noFill/>
        </p:spPr>
        <p:txBody>
          <a:bodyPr wrap="square">
            <a:spAutoFit/>
          </a:bodyPr>
          <a:lstStyle/>
          <a:p>
            <a:pPr algn="l"/>
            <a:r>
              <a:rPr sz="1100" b="0">
                <a:solidFill>
                  <a:srgbClr val="7A9E8E"/>
                </a:solidFill>
                <a:latin typeface="Trebuchet MS"/>
              </a:rPr>
              <a:t>Six of six standard security headers are absent, weakening protection against XSS, clickjacking, and downgrade attacks.</a:t>
            </a:r>
          </a:p>
        </p:txBody>
      </p:sp>
      <p:sp>
        <p:nvSpPr>
          <p:cNvPr id="7" name="TextBox 6"/>
          <p:cNvSpPr txBox="1"/>
          <p:nvPr/>
        </p:nvSpPr>
        <p:spPr>
          <a:xfrm>
            <a:off x="822960" y="2167128"/>
            <a:ext cx="548640" cy="365760"/>
          </a:xfrm>
          <a:prstGeom prst="rect">
            <a:avLst/>
          </a:prstGeom>
          <a:noFill/>
        </p:spPr>
        <p:txBody>
          <a:bodyPr wrap="square">
            <a:spAutoFit/>
          </a:bodyPr>
          <a:lstStyle/>
          <a:p>
            <a:pPr algn="l"/>
            <a:r>
              <a:rPr sz="1600" b="1">
                <a:solidFill>
                  <a:srgbClr val="008061"/>
                </a:solidFill>
                <a:latin typeface="Trebuchet MS"/>
              </a:rPr>
              <a:t>2</a:t>
            </a:r>
          </a:p>
        </p:txBody>
      </p:sp>
      <p:sp>
        <p:nvSpPr>
          <p:cNvPr id="8" name="TextBox 7"/>
          <p:cNvSpPr txBox="1"/>
          <p:nvPr/>
        </p:nvSpPr>
        <p:spPr>
          <a:xfrm>
            <a:off x="1371600" y="2167128"/>
            <a:ext cx="6949440" cy="365760"/>
          </a:xfrm>
          <a:prstGeom prst="rect">
            <a:avLst/>
          </a:prstGeom>
          <a:noFill/>
        </p:spPr>
        <p:txBody>
          <a:bodyPr wrap="square">
            <a:spAutoFit/>
          </a:bodyPr>
          <a:lstStyle/>
          <a:p>
            <a:pPr algn="l"/>
            <a:r>
              <a:rPr sz="1600" b="1">
                <a:solidFill>
                  <a:srgbClr val="FFFFFF"/>
                </a:solidFill>
                <a:latin typeface="Trebuchet MS"/>
              </a:rPr>
              <a:t>No value proposition</a:t>
            </a:r>
          </a:p>
        </p:txBody>
      </p:sp>
      <p:sp>
        <p:nvSpPr>
          <p:cNvPr id="9" name="TextBox 8"/>
          <p:cNvSpPr txBox="1"/>
          <p:nvPr/>
        </p:nvSpPr>
        <p:spPr>
          <a:xfrm>
            <a:off x="8412480" y="2167128"/>
            <a:ext cx="2926080" cy="365760"/>
          </a:xfrm>
          <a:prstGeom prst="rect">
            <a:avLst/>
          </a:prstGeom>
          <a:noFill/>
        </p:spPr>
        <p:txBody>
          <a:bodyPr wrap="square">
            <a:spAutoFit/>
          </a:bodyPr>
          <a:lstStyle/>
          <a:p>
            <a:pPr algn="l"/>
            <a:r>
              <a:rPr sz="1200" b="0">
                <a:solidFill>
                  <a:srgbClr val="7A9E8E"/>
                </a:solidFill>
                <a:latin typeface="Trebuchet MS"/>
              </a:rPr>
              <a:t>High · Low · PXL 5/10</a:t>
            </a:r>
          </a:p>
        </p:txBody>
      </p:sp>
      <p:sp>
        <p:nvSpPr>
          <p:cNvPr id="10" name="TextBox 9"/>
          <p:cNvSpPr txBox="1"/>
          <p:nvPr/>
        </p:nvSpPr>
        <p:spPr>
          <a:xfrm>
            <a:off x="1371600" y="2734056"/>
            <a:ext cx="9966960" cy="365760"/>
          </a:xfrm>
          <a:prstGeom prst="rect">
            <a:avLst/>
          </a:prstGeom>
          <a:noFill/>
        </p:spPr>
        <p:txBody>
          <a:bodyPr wrap="square">
            <a:spAutoFit/>
          </a:bodyPr>
          <a:lstStyle/>
          <a:p>
            <a:pPr algn="l"/>
            <a:r>
              <a:rPr sz="1100" b="0">
                <a:solidFill>
                  <a:srgbClr val="7A9E8E"/>
                </a:solidFill>
                <a:latin typeface="Trebuchet MS"/>
              </a:rPr>
              <a:t>The homepage fails to state what is sold or why it is better, leaving visitors without a clear reason to engage.</a:t>
            </a:r>
          </a:p>
        </p:txBody>
      </p:sp>
      <p:sp>
        <p:nvSpPr>
          <p:cNvPr id="11" name="TextBox 10"/>
          <p:cNvSpPr txBox="1"/>
          <p:nvPr/>
        </p:nvSpPr>
        <p:spPr>
          <a:xfrm>
            <a:off x="822960" y="3236976"/>
            <a:ext cx="548640" cy="365760"/>
          </a:xfrm>
          <a:prstGeom prst="rect">
            <a:avLst/>
          </a:prstGeom>
          <a:noFill/>
        </p:spPr>
        <p:txBody>
          <a:bodyPr wrap="square">
            <a:spAutoFit/>
          </a:bodyPr>
          <a:lstStyle/>
          <a:p>
            <a:pPr algn="l"/>
            <a:r>
              <a:rPr sz="1600" b="1">
                <a:solidFill>
                  <a:srgbClr val="008061"/>
                </a:solidFill>
                <a:latin typeface="Trebuchet MS"/>
              </a:rPr>
              <a:t>3</a:t>
            </a:r>
          </a:p>
        </p:txBody>
      </p:sp>
      <p:sp>
        <p:nvSpPr>
          <p:cNvPr id="12" name="TextBox 11"/>
          <p:cNvSpPr txBox="1"/>
          <p:nvPr/>
        </p:nvSpPr>
        <p:spPr>
          <a:xfrm>
            <a:off x="1371600" y="3236976"/>
            <a:ext cx="6949440" cy="365760"/>
          </a:xfrm>
          <a:prstGeom prst="rect">
            <a:avLst/>
          </a:prstGeom>
          <a:noFill/>
        </p:spPr>
        <p:txBody>
          <a:bodyPr wrap="square">
            <a:spAutoFit/>
          </a:bodyPr>
          <a:lstStyle/>
          <a:p>
            <a:pPr algn="l"/>
            <a:r>
              <a:rPr sz="1600" b="1">
                <a:solidFill>
                  <a:srgbClr val="FFFFFF"/>
                </a:solidFill>
                <a:latin typeface="Trebuchet MS"/>
              </a:rPr>
              <a:t>Weak page metadata</a:t>
            </a:r>
          </a:p>
        </p:txBody>
      </p:sp>
      <p:sp>
        <p:nvSpPr>
          <p:cNvPr id="13" name="TextBox 12"/>
          <p:cNvSpPr txBox="1"/>
          <p:nvPr/>
        </p:nvSpPr>
        <p:spPr>
          <a:xfrm>
            <a:off x="8412480" y="3236976"/>
            <a:ext cx="2926080" cy="365760"/>
          </a:xfrm>
          <a:prstGeom prst="rect">
            <a:avLst/>
          </a:prstGeom>
          <a:noFill/>
        </p:spPr>
        <p:txBody>
          <a:bodyPr wrap="square">
            <a:spAutoFit/>
          </a:bodyPr>
          <a:lstStyle/>
          <a:p>
            <a:pPr algn="l"/>
            <a:r>
              <a:rPr sz="1200" b="0">
                <a:solidFill>
                  <a:srgbClr val="7A9E8E"/>
                </a:solidFill>
                <a:latin typeface="Trebuchet MS"/>
              </a:rPr>
              <a:t>Medium · Medium · PXL 5/10</a:t>
            </a:r>
          </a:p>
        </p:txBody>
      </p:sp>
      <p:sp>
        <p:nvSpPr>
          <p:cNvPr id="14" name="TextBox 13"/>
          <p:cNvSpPr txBox="1"/>
          <p:nvPr/>
        </p:nvSpPr>
        <p:spPr>
          <a:xfrm>
            <a:off x="1371600" y="3803904"/>
            <a:ext cx="9966960" cy="365760"/>
          </a:xfrm>
          <a:prstGeom prst="rect">
            <a:avLst/>
          </a:prstGeom>
          <a:noFill/>
        </p:spPr>
        <p:txBody>
          <a:bodyPr wrap="square">
            <a:spAutoFit/>
          </a:bodyPr>
          <a:lstStyle/>
          <a:p>
            <a:pPr algn="l"/>
            <a:r>
              <a:rPr sz="1100" b="0">
                <a:solidFill>
                  <a:srgbClr val="7A9E8E"/>
                </a:solidFill>
                <a:latin typeface="Trebuchet MS"/>
              </a:rPr>
              <a:t>Search and social previews are degraded because page title, meta description, and Open Graph tags are missing or outside</a:t>
            </a:r>
          </a:p>
        </p:txBody>
      </p:sp>
      <p:sp>
        <p:nvSpPr>
          <p:cNvPr id="15" name="TextBox 14"/>
          <p:cNvSpPr txBox="1"/>
          <p:nvPr/>
        </p:nvSpPr>
        <p:spPr>
          <a:xfrm>
            <a:off x="822960" y="4306824"/>
            <a:ext cx="548640" cy="365760"/>
          </a:xfrm>
          <a:prstGeom prst="rect">
            <a:avLst/>
          </a:prstGeom>
          <a:noFill/>
        </p:spPr>
        <p:txBody>
          <a:bodyPr wrap="square">
            <a:spAutoFit/>
          </a:bodyPr>
          <a:lstStyle/>
          <a:p>
            <a:pPr algn="l"/>
            <a:r>
              <a:rPr sz="1600" b="1">
                <a:solidFill>
                  <a:srgbClr val="008061"/>
                </a:solidFill>
                <a:latin typeface="Trebuchet MS"/>
              </a:rPr>
              <a:t>4</a:t>
            </a:r>
          </a:p>
        </p:txBody>
      </p:sp>
      <p:sp>
        <p:nvSpPr>
          <p:cNvPr id="16" name="TextBox 15"/>
          <p:cNvSpPr txBox="1"/>
          <p:nvPr/>
        </p:nvSpPr>
        <p:spPr>
          <a:xfrm>
            <a:off x="1371600" y="4306824"/>
            <a:ext cx="6949440" cy="365760"/>
          </a:xfrm>
          <a:prstGeom prst="rect">
            <a:avLst/>
          </a:prstGeom>
          <a:noFill/>
        </p:spPr>
        <p:txBody>
          <a:bodyPr wrap="square">
            <a:spAutoFit/>
          </a:bodyPr>
          <a:lstStyle/>
          <a:p>
            <a:pPr algn="l"/>
            <a:r>
              <a:rPr sz="1600" b="1">
                <a:solidFill>
                  <a:srgbClr val="FFFFFF"/>
                </a:solidFill>
                <a:latin typeface="Trebuchet MS"/>
              </a:rPr>
              <a:t>Copy lacks visitor language</a:t>
            </a:r>
          </a:p>
        </p:txBody>
      </p:sp>
      <p:sp>
        <p:nvSpPr>
          <p:cNvPr id="17" name="TextBox 16"/>
          <p:cNvSpPr txBox="1"/>
          <p:nvPr/>
        </p:nvSpPr>
        <p:spPr>
          <a:xfrm>
            <a:off x="8412480" y="4306824"/>
            <a:ext cx="2926080" cy="365760"/>
          </a:xfrm>
          <a:prstGeom prst="rect">
            <a:avLst/>
          </a:prstGeom>
          <a:noFill/>
        </p:spPr>
        <p:txBody>
          <a:bodyPr wrap="square">
            <a:spAutoFit/>
          </a:bodyPr>
          <a:lstStyle/>
          <a:p>
            <a:pPr algn="l"/>
            <a:r>
              <a:rPr sz="1200" b="0">
                <a:solidFill>
                  <a:srgbClr val="7A9E8E"/>
                </a:solidFill>
                <a:latin typeface="Trebuchet MS"/>
              </a:rPr>
              <a:t>Medium · Low · PXL 5/10</a:t>
            </a:r>
          </a:p>
        </p:txBody>
      </p:sp>
      <p:sp>
        <p:nvSpPr>
          <p:cNvPr id="18" name="TextBox 17"/>
          <p:cNvSpPr txBox="1"/>
          <p:nvPr/>
        </p:nvSpPr>
        <p:spPr>
          <a:xfrm>
            <a:off x="1371600" y="4873752"/>
            <a:ext cx="9966960" cy="365760"/>
          </a:xfrm>
          <a:prstGeom prst="rect">
            <a:avLst/>
          </a:prstGeom>
          <a:noFill/>
        </p:spPr>
        <p:txBody>
          <a:bodyPr wrap="square">
            <a:spAutoFit/>
          </a:bodyPr>
          <a:lstStyle/>
          <a:p>
            <a:pPr algn="l"/>
            <a:r>
              <a:rPr sz="1100" b="0">
                <a:solidFill>
                  <a:srgbClr val="7A9E8E"/>
                </a:solidFill>
                <a:latin typeface="Trebuchet MS"/>
              </a:rPr>
              <a:t>The page copy is technical and generic, not written in terms a typical visitor would use to describe their need or the s</a:t>
            </a:r>
          </a:p>
        </p:txBody>
      </p:sp>
      <p:sp>
        <p:nvSpPr>
          <p:cNvPr id="19" name="TextBox 18"/>
          <p:cNvSpPr txBox="1"/>
          <p:nvPr/>
        </p:nvSpPr>
        <p:spPr>
          <a:xfrm>
            <a:off x="822960" y="5376672"/>
            <a:ext cx="548640" cy="365760"/>
          </a:xfrm>
          <a:prstGeom prst="rect">
            <a:avLst/>
          </a:prstGeom>
          <a:noFill/>
        </p:spPr>
        <p:txBody>
          <a:bodyPr wrap="square">
            <a:spAutoFit/>
          </a:bodyPr>
          <a:lstStyle/>
          <a:p>
            <a:pPr algn="l"/>
            <a:r>
              <a:rPr sz="1600" b="1">
                <a:solidFill>
                  <a:srgbClr val="008061"/>
                </a:solidFill>
                <a:latin typeface="Trebuchet MS"/>
              </a:rPr>
              <a:t>5</a:t>
            </a:r>
          </a:p>
        </p:txBody>
      </p:sp>
      <p:sp>
        <p:nvSpPr>
          <p:cNvPr id="20" name="TextBox 19"/>
          <p:cNvSpPr txBox="1"/>
          <p:nvPr/>
        </p:nvSpPr>
        <p:spPr>
          <a:xfrm>
            <a:off x="1371600" y="5376672"/>
            <a:ext cx="6949440" cy="365760"/>
          </a:xfrm>
          <a:prstGeom prst="rect">
            <a:avLst/>
          </a:prstGeom>
          <a:noFill/>
        </p:spPr>
        <p:txBody>
          <a:bodyPr wrap="square">
            <a:spAutoFit/>
          </a:bodyPr>
          <a:lstStyle/>
          <a:p>
            <a:pPr algn="l"/>
            <a:r>
              <a:rPr sz="1600" b="1">
                <a:solidFill>
                  <a:srgbClr val="FFFFFF"/>
                </a:solidFill>
                <a:latin typeface="Trebuchet MS"/>
              </a:rPr>
              <a:t>Single CTA gives no context</a:t>
            </a:r>
          </a:p>
        </p:txBody>
      </p:sp>
      <p:sp>
        <p:nvSpPr>
          <p:cNvPr id="21" name="TextBox 20"/>
          <p:cNvSpPr txBox="1"/>
          <p:nvPr/>
        </p:nvSpPr>
        <p:spPr>
          <a:xfrm>
            <a:off x="8412480" y="5376672"/>
            <a:ext cx="2926080" cy="365760"/>
          </a:xfrm>
          <a:prstGeom prst="rect">
            <a:avLst/>
          </a:prstGeom>
          <a:noFill/>
        </p:spPr>
        <p:txBody>
          <a:bodyPr wrap="square">
            <a:spAutoFit/>
          </a:bodyPr>
          <a:lstStyle/>
          <a:p>
            <a:pPr algn="l"/>
            <a:r>
              <a:rPr sz="1200" b="0">
                <a:solidFill>
                  <a:srgbClr val="7A9E8E"/>
                </a:solidFill>
                <a:latin typeface="Trebuchet MS"/>
              </a:rPr>
              <a:t>Medium · Low · PXL 5/10</a:t>
            </a:r>
          </a:p>
        </p:txBody>
      </p:sp>
      <p:sp>
        <p:nvSpPr>
          <p:cNvPr id="22" name="TextBox 21"/>
          <p:cNvSpPr txBox="1"/>
          <p:nvPr/>
        </p:nvSpPr>
        <p:spPr>
          <a:xfrm>
            <a:off x="1371600" y="5943600"/>
            <a:ext cx="9966960" cy="365760"/>
          </a:xfrm>
          <a:prstGeom prst="rect">
            <a:avLst/>
          </a:prstGeom>
          <a:noFill/>
        </p:spPr>
        <p:txBody>
          <a:bodyPr wrap="square">
            <a:spAutoFit/>
          </a:bodyPr>
          <a:lstStyle/>
          <a:p>
            <a:pPr algn="l"/>
            <a:r>
              <a:rPr sz="1100" b="0">
                <a:solidFill>
                  <a:srgbClr val="7A9E8E"/>
                </a:solidFill>
                <a:latin typeface="Trebuchet MS"/>
              </a:rPr>
              <a:t>The only call to action, 'Learn more', provides no indication of what will be learned or why it matters, failing to rein</a:t>
            </a:r>
          </a:p>
        </p:txBody>
      </p:sp>
      <p:sp>
        <p:nvSpPr>
          <p:cNvPr id="23" name="TextBox 22"/>
          <p:cNvSpPr txBox="1"/>
          <p:nvPr/>
        </p:nvSpPr>
        <p:spPr>
          <a:xfrm>
            <a:off x="822960" y="6446520"/>
            <a:ext cx="548640" cy="365760"/>
          </a:xfrm>
          <a:prstGeom prst="rect">
            <a:avLst/>
          </a:prstGeom>
          <a:noFill/>
        </p:spPr>
        <p:txBody>
          <a:bodyPr wrap="square">
            <a:spAutoFit/>
          </a:bodyPr>
          <a:lstStyle/>
          <a:p>
            <a:pPr algn="l"/>
            <a:r>
              <a:rPr sz="1600" b="1">
                <a:solidFill>
                  <a:srgbClr val="008061"/>
                </a:solidFill>
                <a:latin typeface="Trebuchet MS"/>
              </a:rPr>
              <a:t>6</a:t>
            </a:r>
          </a:p>
        </p:txBody>
      </p:sp>
      <p:sp>
        <p:nvSpPr>
          <p:cNvPr id="24" name="TextBox 23"/>
          <p:cNvSpPr txBox="1"/>
          <p:nvPr/>
        </p:nvSpPr>
        <p:spPr>
          <a:xfrm>
            <a:off x="1371600" y="6446520"/>
            <a:ext cx="6949440" cy="365760"/>
          </a:xfrm>
          <a:prstGeom prst="rect">
            <a:avLst/>
          </a:prstGeom>
          <a:noFill/>
        </p:spPr>
        <p:txBody>
          <a:bodyPr wrap="square">
            <a:spAutoFit/>
          </a:bodyPr>
          <a:lstStyle/>
          <a:p>
            <a:pPr algn="l"/>
            <a:r>
              <a:rPr sz="1600" b="1">
                <a:solidFill>
                  <a:srgbClr val="FFFFFF"/>
                </a:solidFill>
                <a:latin typeface="Trebuchet MS"/>
              </a:rPr>
              <a:t>Missing trust signals above the fold</a:t>
            </a:r>
          </a:p>
        </p:txBody>
      </p:sp>
      <p:sp>
        <p:nvSpPr>
          <p:cNvPr id="25" name="TextBox 24"/>
          <p:cNvSpPr txBox="1"/>
          <p:nvPr/>
        </p:nvSpPr>
        <p:spPr>
          <a:xfrm>
            <a:off x="8412480" y="6446520"/>
            <a:ext cx="2926080" cy="365760"/>
          </a:xfrm>
          <a:prstGeom prst="rect">
            <a:avLst/>
          </a:prstGeom>
          <a:noFill/>
        </p:spPr>
        <p:txBody>
          <a:bodyPr wrap="square">
            <a:spAutoFit/>
          </a:bodyPr>
          <a:lstStyle/>
          <a:p>
            <a:pPr algn="l"/>
            <a:r>
              <a:rPr sz="1200" b="0">
                <a:solidFill>
                  <a:srgbClr val="7A9E8E"/>
                </a:solidFill>
                <a:latin typeface="Trebuchet MS"/>
              </a:rPr>
              <a:t>High · Medium · PXL 5/10</a:t>
            </a:r>
          </a:p>
        </p:txBody>
      </p:sp>
      <p:sp>
        <p:nvSpPr>
          <p:cNvPr id="26" name="TextBox 25"/>
          <p:cNvSpPr txBox="1"/>
          <p:nvPr/>
        </p:nvSpPr>
        <p:spPr>
          <a:xfrm>
            <a:off x="1371600" y="7013448"/>
            <a:ext cx="9966960" cy="365760"/>
          </a:xfrm>
          <a:prstGeom prst="rect">
            <a:avLst/>
          </a:prstGeom>
          <a:noFill/>
        </p:spPr>
        <p:txBody>
          <a:bodyPr wrap="square">
            <a:spAutoFit/>
          </a:bodyPr>
          <a:lstStyle/>
          <a:p>
            <a:pPr algn="l"/>
            <a:r>
              <a:rPr sz="1100" b="0">
                <a:solidFill>
                  <a:srgbClr val="7A9E8E"/>
                </a:solidFill>
                <a:latin typeface="Trebuchet MS"/>
              </a:rPr>
              <a:t>The homepage shows no sign of returns policy, guarantee, reviews, security badge, so a first-time visitor has nothing to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1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Missing security headers</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"Measured on the live origin: missing HSTS, CSP, X-Content-Type-Options, X-Frame-Options, Referrer-Policy, Permissions-Policy."</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Missing security headers undermine user trust and expose the site to common attacks.</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Medium  ·  2-5 days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2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No value proposition</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"This domain is for use in documentation examples without needing permission."</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homepage's generic copy does not communicate the product or its benefit, causing visitors to leave without understanding the offering.</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Low  ·  0.5-2 days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3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Weak page metadata</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"Measured on the homepage: title 0 chars (15-60 recommended); description 0 chars (70-160 recommended); og:title missing, og:image missing."</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Missing metadata reduces organic traffic and social click-through rates, limiting overall reach.</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Medium  ·  2-5 days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4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Copy lacks visitor language</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"This domain is for use in documentation examples without needing permission."</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Generic copy fails to resonate with visitors, reducing engagement and conversion.</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Low  ·  0.5-2 days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5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Single CTA gives no context</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A vague CTA does not motivate clicks because it lacks specificity and value.</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Low  ·  0.5-2 days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FOUR-WEEK ROADMAP</a:t>
            </a:r>
          </a:p>
        </p:txBody>
      </p:sp>
      <p:sp>
        <p:nvSpPr>
          <p:cNvPr id="3" name="TextBox 2"/>
          <p:cNvSpPr txBox="1"/>
          <p:nvPr/>
        </p:nvSpPr>
        <p:spPr>
          <a:xfrm>
            <a:off x="640080" y="1188720"/>
            <a:ext cx="2651760" cy="365760"/>
          </a:xfrm>
          <a:prstGeom prst="rect">
            <a:avLst/>
          </a:prstGeom>
          <a:noFill/>
        </p:spPr>
        <p:txBody>
          <a:bodyPr wrap="square">
            <a:spAutoFit/>
          </a:bodyPr>
          <a:lstStyle/>
          <a:p>
            <a:pPr algn="l"/>
            <a:r>
              <a:rPr sz="1500" b="1">
                <a:solidFill>
                  <a:srgbClr val="008061"/>
                </a:solidFill>
                <a:latin typeface="Trebuchet MS"/>
              </a:rPr>
              <a:t>Week 1</a:t>
            </a:r>
          </a:p>
        </p:txBody>
      </p:sp>
      <p:sp>
        <p:nvSpPr>
          <p:cNvPr id="4" name="TextBox 3"/>
          <p:cNvSpPr txBox="1"/>
          <p:nvPr/>
        </p:nvSpPr>
        <p:spPr>
          <a:xfrm>
            <a:off x="640080" y="1737360"/>
            <a:ext cx="2651760" cy="731520"/>
          </a:xfrm>
          <a:prstGeom prst="rect">
            <a:avLst/>
          </a:prstGeom>
          <a:noFill/>
        </p:spPr>
        <p:txBody>
          <a:bodyPr wrap="square">
            <a:spAutoFit/>
          </a:bodyPr>
          <a:lstStyle/>
          <a:p>
            <a:pPr algn="l"/>
            <a:r>
              <a:rPr sz="1100" b="0">
                <a:solidFill>
                  <a:srgbClr val="FFFFFF"/>
                </a:solidFill>
                <a:latin typeface="Trebuchet MS"/>
              </a:rPr>
              <a:t>• No responsive viewport</a:t>
            </a:r>
          </a:p>
        </p:txBody>
      </p:sp>
      <p:sp>
        <p:nvSpPr>
          <p:cNvPr id="5" name="TextBox 4"/>
          <p:cNvSpPr txBox="1"/>
          <p:nvPr/>
        </p:nvSpPr>
        <p:spPr>
          <a:xfrm>
            <a:off x="640080" y="2240280"/>
            <a:ext cx="2651760" cy="731520"/>
          </a:xfrm>
          <a:prstGeom prst="rect">
            <a:avLst/>
          </a:prstGeom>
          <a:noFill/>
        </p:spPr>
        <p:txBody>
          <a:bodyPr wrap="square">
            <a:spAutoFit/>
          </a:bodyPr>
          <a:lstStyle/>
          <a:p>
            <a:pPr algn="l"/>
            <a:r>
              <a:rPr sz="1100" b="0">
                <a:solidFill>
                  <a:srgbClr val="FFFFFF"/>
                </a:solidFill>
                <a:latin typeface="Trebuchet MS"/>
              </a:rPr>
              <a:t>• No responsive viewport declared</a:t>
            </a:r>
          </a:p>
        </p:txBody>
      </p:sp>
      <p:sp>
        <p:nvSpPr>
          <p:cNvPr id="6" name="TextBox 5"/>
          <p:cNvSpPr txBox="1"/>
          <p:nvPr/>
        </p:nvSpPr>
        <p:spPr>
          <a:xfrm>
            <a:off x="640080" y="2743200"/>
            <a:ext cx="2651760" cy="731520"/>
          </a:xfrm>
          <a:prstGeom prst="rect">
            <a:avLst/>
          </a:prstGeom>
          <a:noFill/>
        </p:spPr>
        <p:txBody>
          <a:bodyPr wrap="square">
            <a:spAutoFit/>
          </a:bodyPr>
          <a:lstStyle/>
          <a:p>
            <a:pPr algn="l"/>
            <a:r>
              <a:rPr sz="1100" b="0">
                <a:solidFill>
                  <a:srgbClr val="FFFFFF"/>
                </a:solidFill>
                <a:latin typeface="Trebuchet MS"/>
              </a:rPr>
              <a:t>• No value proposition</a:t>
            </a:r>
          </a:p>
        </p:txBody>
      </p:sp>
      <p:sp>
        <p:nvSpPr>
          <p:cNvPr id="7" name="TextBox 6"/>
          <p:cNvSpPr txBox="1"/>
          <p:nvPr/>
        </p:nvSpPr>
        <p:spPr>
          <a:xfrm>
            <a:off x="3474720" y="1188720"/>
            <a:ext cx="2651760" cy="365760"/>
          </a:xfrm>
          <a:prstGeom prst="rect">
            <a:avLst/>
          </a:prstGeom>
          <a:noFill/>
        </p:spPr>
        <p:txBody>
          <a:bodyPr wrap="square">
            <a:spAutoFit/>
          </a:bodyPr>
          <a:lstStyle/>
          <a:p>
            <a:pPr algn="l"/>
            <a:r>
              <a:rPr sz="1500" b="1">
                <a:solidFill>
                  <a:srgbClr val="008061"/>
                </a:solidFill>
                <a:latin typeface="Trebuchet MS"/>
              </a:rPr>
              <a:t>Week 2</a:t>
            </a:r>
          </a:p>
        </p:txBody>
      </p:sp>
      <p:sp>
        <p:nvSpPr>
          <p:cNvPr id="8" name="TextBox 7"/>
          <p:cNvSpPr txBox="1"/>
          <p:nvPr/>
        </p:nvSpPr>
        <p:spPr>
          <a:xfrm>
            <a:off x="3474720" y="1737360"/>
            <a:ext cx="2651760" cy="731520"/>
          </a:xfrm>
          <a:prstGeom prst="rect">
            <a:avLst/>
          </a:prstGeom>
          <a:noFill/>
        </p:spPr>
        <p:txBody>
          <a:bodyPr wrap="square">
            <a:spAutoFit/>
          </a:bodyPr>
          <a:lstStyle/>
          <a:p>
            <a:pPr algn="l"/>
            <a:r>
              <a:rPr sz="1100" b="0">
                <a:solidFill>
                  <a:srgbClr val="FFFFFF"/>
                </a:solidFill>
                <a:latin typeface="Trebuchet MS"/>
              </a:rPr>
              <a:t>• Copy lacks visitor language</a:t>
            </a:r>
          </a:p>
        </p:txBody>
      </p:sp>
      <p:sp>
        <p:nvSpPr>
          <p:cNvPr id="9" name="TextBox 8"/>
          <p:cNvSpPr txBox="1"/>
          <p:nvPr/>
        </p:nvSpPr>
        <p:spPr>
          <a:xfrm>
            <a:off x="3474720" y="2240280"/>
            <a:ext cx="2651760" cy="731520"/>
          </a:xfrm>
          <a:prstGeom prst="rect">
            <a:avLst/>
          </a:prstGeom>
          <a:noFill/>
        </p:spPr>
        <p:txBody>
          <a:bodyPr wrap="square">
            <a:spAutoFit/>
          </a:bodyPr>
          <a:lstStyle/>
          <a:p>
            <a:pPr algn="l"/>
            <a:r>
              <a:rPr sz="1100" b="0">
                <a:solidFill>
                  <a:srgbClr val="FFFFFF"/>
                </a:solidFill>
                <a:latin typeface="Trebuchet MS"/>
              </a:rPr>
              <a:t>• Single CTA gives no context</a:t>
            </a:r>
          </a:p>
        </p:txBody>
      </p:sp>
      <p:sp>
        <p:nvSpPr>
          <p:cNvPr id="10" name="TextBox 9"/>
          <p:cNvSpPr txBox="1"/>
          <p:nvPr/>
        </p:nvSpPr>
        <p:spPr>
          <a:xfrm>
            <a:off x="6309360" y="1188720"/>
            <a:ext cx="2651760" cy="365760"/>
          </a:xfrm>
          <a:prstGeom prst="rect">
            <a:avLst/>
          </a:prstGeom>
          <a:noFill/>
        </p:spPr>
        <p:txBody>
          <a:bodyPr wrap="square">
            <a:spAutoFit/>
          </a:bodyPr>
          <a:lstStyle/>
          <a:p>
            <a:pPr algn="l"/>
            <a:r>
              <a:rPr sz="1500" b="1">
                <a:solidFill>
                  <a:srgbClr val="008061"/>
                </a:solidFill>
                <a:latin typeface="Trebuchet MS"/>
              </a:rPr>
              <a:t>Week 3</a:t>
            </a:r>
          </a:p>
        </p:txBody>
      </p:sp>
      <p:sp>
        <p:nvSpPr>
          <p:cNvPr id="11" name="TextBox 10"/>
          <p:cNvSpPr txBox="1"/>
          <p:nvPr/>
        </p:nvSpPr>
        <p:spPr>
          <a:xfrm>
            <a:off x="6309360" y="1737360"/>
            <a:ext cx="2651760" cy="731520"/>
          </a:xfrm>
          <a:prstGeom prst="rect">
            <a:avLst/>
          </a:prstGeom>
          <a:noFill/>
        </p:spPr>
        <p:txBody>
          <a:bodyPr wrap="square">
            <a:spAutoFit/>
          </a:bodyPr>
          <a:lstStyle/>
          <a:p>
            <a:pPr algn="l"/>
            <a:r>
              <a:rPr sz="1100" b="0">
                <a:solidFill>
                  <a:srgbClr val="FFFFFF"/>
                </a:solidFill>
                <a:latin typeface="Trebuchet MS"/>
              </a:rPr>
              <a:t>• Missing security headers</a:t>
            </a:r>
          </a:p>
        </p:txBody>
      </p:sp>
      <p:sp>
        <p:nvSpPr>
          <p:cNvPr id="12" name="TextBox 11"/>
          <p:cNvSpPr txBox="1"/>
          <p:nvPr/>
        </p:nvSpPr>
        <p:spPr>
          <a:xfrm>
            <a:off x="6309360" y="2240280"/>
            <a:ext cx="2651760" cy="731520"/>
          </a:xfrm>
          <a:prstGeom prst="rect">
            <a:avLst/>
          </a:prstGeom>
          <a:noFill/>
        </p:spPr>
        <p:txBody>
          <a:bodyPr wrap="square">
            <a:spAutoFit/>
          </a:bodyPr>
          <a:lstStyle/>
          <a:p>
            <a:pPr algn="l"/>
            <a:r>
              <a:rPr sz="1100" b="0">
                <a:solidFill>
                  <a:srgbClr val="FFFFFF"/>
                </a:solidFill>
                <a:latin typeface="Trebuchet MS"/>
              </a:rPr>
              <a:t>• Weak page metadata</a:t>
            </a:r>
          </a:p>
        </p:txBody>
      </p:sp>
      <p:sp>
        <p:nvSpPr>
          <p:cNvPr id="13" name="TextBox 12"/>
          <p:cNvSpPr txBox="1"/>
          <p:nvPr/>
        </p:nvSpPr>
        <p:spPr>
          <a:xfrm>
            <a:off x="9144000" y="1188720"/>
            <a:ext cx="2651760" cy="365760"/>
          </a:xfrm>
          <a:prstGeom prst="rect">
            <a:avLst/>
          </a:prstGeom>
          <a:noFill/>
        </p:spPr>
        <p:txBody>
          <a:bodyPr wrap="square">
            <a:spAutoFit/>
          </a:bodyPr>
          <a:lstStyle/>
          <a:p>
            <a:pPr algn="l"/>
            <a:r>
              <a:rPr sz="1500" b="1">
                <a:solidFill>
                  <a:srgbClr val="008061"/>
                </a:solidFill>
                <a:latin typeface="Trebuchet MS"/>
              </a:rPr>
              <a:t>Week 4</a:t>
            </a:r>
          </a:p>
        </p:txBody>
      </p:sp>
      <p:sp>
        <p:nvSpPr>
          <p:cNvPr id="14" name="TextBox 13"/>
          <p:cNvSpPr txBox="1"/>
          <p:nvPr/>
        </p:nvSpPr>
        <p:spPr>
          <a:xfrm>
            <a:off x="9144000" y="1737360"/>
            <a:ext cx="2651760" cy="731520"/>
          </a:xfrm>
          <a:prstGeom prst="rect">
            <a:avLst/>
          </a:prstGeom>
          <a:noFill/>
        </p:spPr>
        <p:txBody>
          <a:bodyPr wrap="square">
            <a:spAutoFit/>
          </a:bodyPr>
          <a:lstStyle/>
          <a:p>
            <a:pPr algn="l"/>
            <a:r>
              <a:rPr sz="1100" b="0">
                <a:solidFill>
                  <a:srgbClr val="FFFFFF"/>
                </a:solidFill>
                <a:latin typeface="Trebuchet MS"/>
              </a:rPr>
              <a:t>• Missing trust signals above the fold</a:t>
            </a:r>
          </a:p>
        </p:txBody>
      </p:sp>
      <p:sp>
        <p:nvSpPr>
          <p:cNvPr id="15" name="TextBox 14"/>
          <p:cNvSpPr txBox="1"/>
          <p:nvPr/>
        </p:nvSpPr>
        <p:spPr>
          <a:xfrm>
            <a:off x="9144000" y="2240280"/>
            <a:ext cx="2651760" cy="731520"/>
          </a:xfrm>
          <a:prstGeom prst="rect">
            <a:avLst/>
          </a:prstGeom>
          <a:noFill/>
        </p:spPr>
        <p:txBody>
          <a:bodyPr wrap="square">
            <a:spAutoFit/>
          </a:bodyPr>
          <a:lstStyle/>
          <a:p>
            <a:pPr algn="l"/>
            <a:r>
              <a:rPr sz="1100" b="0">
                <a:solidFill>
                  <a:srgbClr val="FFFFFF"/>
                </a:solidFill>
                <a:latin typeface="Trebuchet MS"/>
              </a:rPr>
              <a:t>• Missing trust signals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HOW TO READ THIS</a:t>
            </a:r>
          </a:p>
        </p:txBody>
      </p:sp>
      <p:sp>
        <p:nvSpPr>
          <p:cNvPr id="3" name="TextBox 2"/>
          <p:cNvSpPr txBox="1"/>
          <p:nvPr/>
        </p:nvSpPr>
        <p:spPr>
          <a:xfrm>
            <a:off x="822960" y="1280160"/>
            <a:ext cx="10515600" cy="4206240"/>
          </a:xfrm>
          <a:prstGeom prst="rect">
            <a:avLst/>
          </a:prstGeom>
          <a:noFill/>
        </p:spPr>
        <p:txBody>
          <a:bodyPr wrap="square">
            <a:spAutoFit/>
          </a:bodyPr>
          <a:lstStyle/>
          <a:p>
            <a:pPr algn="l"/>
            <a:r>
              <a:rPr sz="1500" b="0">
                <a:solidFill>
                  <a:srgbClr val="FFFFFF"/>
                </a:solidFill>
                <a:latin typeface="Trebuchet MS"/>
              </a:rPr>
              <a:t>7 independent analysts reviewed the live site: six heuristic specialists plus one deterministic measurement pass (Core Web Vitals field data, accessibility, security headers, SEO metadata).
Findings marked 'verified' are reproducible measurements. Everything else is expert inspection with quoted evidence — a hypothesis until tested.
Every number in the report carries its arithmetic: click 'How is this calculated?' next to any figure. Opportunity ranges assume the change ships AND wins; they are never forecasts.
Full evidence, PXL scoring, developer specs and experiment designs are in the web 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